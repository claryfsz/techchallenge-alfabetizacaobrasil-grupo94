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0764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4206240"/>
            <a:ext cx="4206240" cy="42062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875520" y="5029200"/>
            <a:ext cx="2560320" cy="25603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0515600" y="5669280"/>
            <a:ext cx="1280160" cy="12801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— FASE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8778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Híbrido para Análise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Alfabetização no Brasil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Medalhão (Bronze • Silver • Gold) com ingestão híbrida batch + streaming, para acompanhar o Indicador Criança Alfabetizada.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94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Clara Ferreira  •  Luiz Eduardo Oliveira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mostrar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816352"/>
            <a:ext cx="11064240" cy="0"/>
          </a:xfrm>
          <a:prstGeom prst="line">
            <a:avLst/>
          </a:prstGeom>
          <a:noFill/>
          <a:ln w="12700">
            <a:solidFill>
              <a:srgbClr val="E4ED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1965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94960" y="196596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um indicador nacional único esconde desigualdade regional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776472"/>
            <a:ext cx="11064240" cy="0"/>
          </a:xfrm>
          <a:prstGeom prst="line">
            <a:avLst/>
          </a:prstGeom>
          <a:noFill/>
          <a:ln w="12700">
            <a:solidFill>
              <a:srgbClr val="E4ED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828800" y="29260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arquitetura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94960" y="292608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Medalhão + ingestão híbrida batch e streaming, decidida fonte a fonte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736592"/>
            <a:ext cx="11064240" cy="0"/>
          </a:xfrm>
          <a:prstGeom prst="line">
            <a:avLst/>
          </a:prstGeom>
          <a:noFill/>
          <a:ln w="12700">
            <a:solidFill>
              <a:srgbClr val="E4ED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48640" y="388620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828800" y="38862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resultados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94960" y="38862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camada Gold entrega, o valor de negócio e a governança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696712"/>
            <a:ext cx="11064240" cy="0"/>
          </a:xfrm>
          <a:prstGeom prst="line">
            <a:avLst/>
          </a:prstGeom>
          <a:noFill/>
          <a:ln w="12700">
            <a:solidFill>
              <a:srgbClr val="E4ED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48640" y="48463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828800" y="48463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futuro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94960" y="484632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de uso para Inteligência Artificial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94  •  Alfabetização Brasil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O DESAFIO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Alfabetizar até 2030 — e enxergar onde estamos falhando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6126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lang="en-US" sz="14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Compromisso Nacional Criança Alfabetizada</a:t>
            </a:r>
            <a:r>
              <a:rPr lang="en-US" sz="14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mobiliza União, estados e municípios para alfabetizar todas as crianças até o 2º ano do ensino fundamental, com meta para 2030.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parâmetro oficial é o Indicador Criança Alfabetizada: 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estudantes que atingem 743 pontos na escala do Saeb</a:t>
            </a:r>
            <a:r>
              <a:rPr lang="en-US" sz="14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ponto de corte definido pelo Inep em 2023.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não é falta de dado — é falta de uma base única, confiável e atualizada que cruze o resultado real com a meta oficial, por região.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086600" y="1828800"/>
            <a:ext cx="4526280" cy="4297680"/>
          </a:xfrm>
          <a:prstGeom prst="roundRect">
            <a:avLst>
              <a:gd name="adj" fmla="val 2553"/>
            </a:avLst>
          </a:prstGeom>
          <a:solidFill>
            <a:srgbClr val="F7FAFA"/>
          </a:solidFill>
          <a:ln/>
          <a:effectLst>
            <a:outerShdw blurRad="101600" dist="38100" dir="5400000" algn="bl" rotWithShape="0">
              <a:srgbClr val="0B2B2E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452360" y="2148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NACIONAL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52360" y="24231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60,71%  →  62,21%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452360" y="3063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→ 2024  (+1,5 p.p.)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52360" y="3611880"/>
            <a:ext cx="3794760" cy="0"/>
          </a:xfrm>
          <a:prstGeom prst="line">
            <a:avLst/>
          </a:prstGeom>
          <a:noFill/>
          <a:ln w="12700">
            <a:solidFill>
              <a:srgbClr val="DCE7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452360" y="3794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DESIGUALDADE REGIONAL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52360" y="42062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45236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92440" y="41879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092440" y="45537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resultado (Ceará)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52360" y="5029200"/>
            <a:ext cx="502920" cy="502920"/>
          </a:xfrm>
          <a:prstGeom prst="ellipse">
            <a:avLst/>
          </a:prstGeom>
          <a:solidFill>
            <a:srgbClr val="F2A6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45236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92440" y="50109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~34%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092440" y="5376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pior resultado (Sergipe)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52360" y="5715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indicador nacional único esconde essa desigualdade.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94  •  Alfabetização Brasil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FONTES DE DADOS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Sete tabelas, duas perguntas centrais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Base dos Dados (BigQuery público) — br_inep_avaliacao_alfabetizacao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7FAFA"/>
          </a:solidFill>
          <a:ln/>
          <a:effectLst>
            <a:outerShdw blurRad="101600" dist="38100" dir="5400000" algn="bl" rotWithShape="0">
              <a:srgbClr val="0B2B2E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estamos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(resultado real)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30000"/>
              </a:lnSpc>
              <a:buSzPct val="100000"/>
              <a:buChar char="▪"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por UF</a:t>
            </a:r>
            <a:endParaRPr lang="en-US" sz="1300" dirty="0"/>
          </a:p>
          <a:p>
            <a:pPr marL="177800" indent="-177800">
              <a:lnSpc>
                <a:spcPct val="130000"/>
              </a:lnSpc>
              <a:buSzPct val="100000"/>
              <a:buChar char="▪"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por Município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800600"/>
            <a:ext cx="2971800" cy="0"/>
          </a:xfrm>
          <a:prstGeom prst="line">
            <a:avLst/>
          </a:prstGeom>
          <a:noFill/>
          <a:ln w="12700">
            <a:solidFill>
              <a:srgbClr val="DCE7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22960" y="491947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simulado — nova medição chegando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89120" y="201168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7FAFA"/>
          </a:solidFill>
          <a:ln/>
          <a:effectLst>
            <a:outerShdw blurRad="101600" dist="38100" dir="5400000" algn="bl" rotWithShape="0">
              <a:srgbClr val="0B2B2E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663440" y="22860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6634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63440" y="29260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precisamos chegar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63440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(objetivo oficial 2030)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63440" y="384048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30000"/>
              </a:lnSpc>
              <a:buSzPct val="100000"/>
              <a:buChar char="▪"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Brasil</a:t>
            </a:r>
            <a:endParaRPr lang="en-US" sz="1300" dirty="0"/>
          </a:p>
          <a:p>
            <a:pPr marL="177800" indent="-177800">
              <a:lnSpc>
                <a:spcPct val="130000"/>
              </a:lnSpc>
              <a:buSzPct val="100000"/>
              <a:buChar char="▪"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por UF</a:t>
            </a:r>
            <a:endParaRPr lang="en-US" sz="1300" dirty="0"/>
          </a:p>
          <a:p>
            <a:pPr marL="177800" indent="-177800">
              <a:lnSpc>
                <a:spcPct val="130000"/>
              </a:lnSpc>
              <a:buSzPct val="100000"/>
              <a:buChar char="▪"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por Município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4800600"/>
            <a:ext cx="2971800" cy="0"/>
          </a:xfrm>
          <a:prstGeom prst="line">
            <a:avLst/>
          </a:prstGeom>
          <a:noFill/>
          <a:ln w="12700">
            <a:solidFill>
              <a:srgbClr val="DCE7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663440" y="491947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— publicada em ciclo de política pública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29600" y="201168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7FAFA"/>
          </a:solidFill>
          <a:ln/>
          <a:effectLst>
            <a:outerShdw blurRad="101600" dist="38100" dir="5400000" algn="bl" rotWithShape="0">
              <a:srgbClr val="0B2B2E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8503920" y="22860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85039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503920" y="29260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 geográfica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503920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Territórios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503920" y="384048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30000"/>
              </a:lnSpc>
              <a:buSzPct val="100000"/>
              <a:buChar char="▪"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</a:t>
            </a:r>
            <a:endParaRPr lang="en-US" sz="1300" dirty="0"/>
          </a:p>
          <a:p>
            <a:pPr marL="177800" indent="-177800">
              <a:lnSpc>
                <a:spcPct val="130000"/>
              </a:lnSpc>
              <a:buSzPct val="100000"/>
              <a:buChar char="▪"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503920" y="4800600"/>
            <a:ext cx="2971800" cy="0"/>
          </a:xfrm>
          <a:prstGeom prst="line">
            <a:avLst/>
          </a:prstGeom>
          <a:noFill/>
          <a:ln w="12700">
            <a:solidFill>
              <a:srgbClr val="DCE7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8503920" y="491947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— dado quase estático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Cruzar os dois níveis geográficos (UF e Município) é o que revela a desigualdade regional que um indicador nacional único esconderia.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94  •  Alfabetização Brasil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ARQUITETURA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Medalhão com ingestão híbrida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828800" cy="1005840"/>
          </a:xfrm>
          <a:prstGeom prst="roundRect">
            <a:avLst>
              <a:gd name="adj" fmla="val 818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fontes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(metas, territórios)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1828800" cy="1005840"/>
          </a:xfrm>
          <a:prstGeom prst="roundRect">
            <a:avLst>
              <a:gd name="adj" fmla="val 8182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fontes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(indicador UF/Município)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63240" y="2514600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C99A6A"/>
          </a:solidFill>
          <a:ln/>
          <a:effectLst>
            <a:outerShdw blurRad="101600" dist="38100" dir="5400000" algn="bl" rotWithShape="0">
              <a:srgbClr val="0B2B2E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063240" y="27706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32918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brutos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timestamp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ingestão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97880" y="2514600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AEB6BD"/>
          </a:solidFill>
          <a:ln/>
          <a:effectLst>
            <a:outerShdw blurRad="101600" dist="38100" dir="5400000" algn="bl" rotWithShape="0">
              <a:srgbClr val="0B2B2E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897880" y="27706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5040" y="32918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Limpeza,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integração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47488" y="3369564"/>
            <a:ext cx="731520" cy="256032"/>
          </a:xfrm>
          <a:prstGeom prst="rightArrow">
            <a:avLst/>
          </a:prstGeom>
          <a:solidFill>
            <a:srgbClr val="C9D6D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8732520" y="2514600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E8B923"/>
          </a:solidFill>
          <a:ln/>
          <a:effectLst>
            <a:outerShdw blurRad="101600" dist="38100" dir="5400000" algn="bl" rotWithShape="0">
              <a:srgbClr val="0B2B2E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732520" y="27706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69680" y="32918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analíticos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82128" y="3369564"/>
            <a:ext cx="731520" cy="256032"/>
          </a:xfrm>
          <a:prstGeom prst="rightArrow">
            <a:avLst/>
          </a:prstGeom>
          <a:solidFill>
            <a:srgbClr val="C9D6D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2423160" y="3369564"/>
            <a:ext cx="594360" cy="256032"/>
          </a:xfrm>
          <a:prstGeom prst="rightArrow">
            <a:avLst/>
          </a:prstGeom>
          <a:solidFill>
            <a:srgbClr val="C9D6D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8732520" y="4983480"/>
            <a:ext cx="1965960" cy="777240"/>
          </a:xfrm>
          <a:prstGeom prst="roundRect">
            <a:avLst>
              <a:gd name="adj" fmla="val 10588"/>
            </a:avLst>
          </a:prstGeom>
          <a:solidFill>
            <a:srgbClr val="F7FAFA"/>
          </a:solidFill>
          <a:ln w="12700">
            <a:solidFill>
              <a:srgbClr val="DCE7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8732520" y="49834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+ Power BI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715500" y="4480560"/>
            <a:ext cx="0" cy="502920"/>
          </a:xfrm>
          <a:prstGeom prst="line">
            <a:avLst/>
          </a:prstGeom>
          <a:noFill/>
          <a:ln w="25400">
            <a:solidFill>
              <a:srgbClr val="C9D6D6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fonte foi classificada pela frequência real com que muda — não usamos batch e streaming "porque foi pedido".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94  •  Alfabetização Brasil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DECISÃO ARQUITETURAL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vs. streaming — justificado por fonte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288036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Abordagem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quê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 / Município (diretório)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Referência geográfica, praticamente estática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Brasil / UF / Município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Publicada em ciclo de política pública (anual)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 por UF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Streaming (simulado)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 medição chegando quase em tempo real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 por Município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Streaming (simulado)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Mesmo raciocínio — novo resultado contínuo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F7FA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22960" y="55321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das 7 entidades </a:t>
            </a:r>
            <a:r>
              <a:rPr lang="en-US" sz="12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batch (ciclos administrativos). Só o indicador de desempenho — 2 das 7 — justifica streaming, e mesmo assim como </a:t>
            </a:r>
            <a:r>
              <a:rPr lang="en-US" sz="1250" i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</a:t>
            </a:r>
            <a:r>
              <a:rPr lang="en-US" sz="12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não existe fonte de streaming real do governo para esse indicador.</a:t>
            </a:r>
            <a:endParaRPr lang="en-US" sz="1250" dirty="0"/>
          </a:p>
        </p:txBody>
      </p:sp>
      <p:sp>
        <p:nvSpPr>
          <p:cNvPr id="4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94  •  Alfabetização Brasil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Tecnologias — escolhidas por custo-benefício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AFA"/>
          </a:solidFill>
          <a:ln/>
          <a:effectLst>
            <a:outerShdw blurRad="101600" dist="38100" dir="5400000" algn="bl" rotWithShape="0">
              <a:srgbClr val="0B2B2E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222199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 + Parquet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baixo, formato colunar eficiente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AFA"/>
          </a:solidFill>
          <a:ln/>
          <a:effectLst>
            <a:outerShdw blurRad="101600" dist="38100" dir="5400000" algn="bl" rotWithShape="0">
              <a:srgbClr val="0B2B2E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663440" y="22402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66344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94960" y="222199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+ PyArrow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3440" y="30175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não justifica cluster Spark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9659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AFA"/>
          </a:solidFill>
          <a:ln/>
          <a:effectLst>
            <a:outerShdw blurRad="101600" dist="38100" dir="5400000" algn="bl" rotWithShape="0">
              <a:srgbClr val="0B2B2E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503920" y="22402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50392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235440" y="222199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Athena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03920" y="30175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Serverless, paga só por consulta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2519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AFA"/>
          </a:solidFill>
          <a:ln/>
          <a:effectLst>
            <a:outerShdw blurRad="101600" dist="38100" dir="5400000" algn="bl" rotWithShape="0">
              <a:srgbClr val="0B2B2E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822960" y="45262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822960" y="4526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54480" y="450799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Simulação Python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53035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Suficiente p/ demonstrar arquitetura híbrida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89120" y="42519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AFA"/>
          </a:solidFill>
          <a:ln/>
          <a:effectLst>
            <a:outerShdw blurRad="101600" dist="38100" dir="5400000" algn="bl" rotWithShape="0">
              <a:srgbClr val="0B2B2E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663440" y="45262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663440" y="4526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94960" y="450799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63440" y="53035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direto na camada Gold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229600" y="42519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AFA"/>
          </a:solidFill>
          <a:ln/>
          <a:effectLst>
            <a:outerShdw blurRad="101600" dist="38100" dir="5400000" algn="bl" rotWithShape="0">
              <a:srgbClr val="0B2B2E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8503920" y="45262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8503920" y="4526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235440" y="450799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503920" y="53035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+ PR, rastreabilidade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94  •  Alfabetização Brasil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RESULTADOS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camada Gold já entrega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064E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15.219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6118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8FB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88720" y="4160520"/>
            <a:ext cx="2240280" cy="0"/>
          </a:xfrm>
          <a:prstGeom prst="line">
            <a:avLst/>
          </a:prstGeom>
          <a:noFill/>
          <a:ln w="12700">
            <a:solidFill>
              <a:srgbClr val="0F6B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68680" y="43891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 err="1">
                <a:solidFill>
                  <a:srgbClr val="D6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</a:t>
            </a:r>
            <a:r>
              <a:rPr lang="en-US" sz="1250" dirty="0">
                <a:solidFill>
                  <a:srgbClr val="D6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município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19456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064E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617720" y="26974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7.065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617720" y="36118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8FB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4160520"/>
            <a:ext cx="2240280" cy="0"/>
          </a:xfrm>
          <a:prstGeom prst="line">
            <a:avLst/>
          </a:prstGeom>
          <a:noFill/>
          <a:ln w="12700">
            <a:solidFill>
              <a:srgbClr val="0F6B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709160" y="43891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D6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vs. </a:t>
            </a:r>
            <a:r>
              <a:rPr lang="en-US" sz="1250" dirty="0" err="1">
                <a:solidFill>
                  <a:srgbClr val="D6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219456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064E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458200" y="26974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+1,5 p.p.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458200" y="36118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8FB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869680" y="4160520"/>
            <a:ext cx="2240280" cy="0"/>
          </a:xfrm>
          <a:prstGeom prst="line">
            <a:avLst/>
          </a:prstGeom>
          <a:noFill/>
          <a:ln w="12700">
            <a:solidFill>
              <a:srgbClr val="0F6B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549640" y="43891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D6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60,71% (2023) → 62,21% (2024)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8FB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Limitação conhecida: a Base dos Dados só disponibiliza 2023 e 2024 para o indicador real — a estrutura particionada por ano já está pronta para novos anos, sem reprocessar o histórico.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B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94  •  Alfabetização Brasil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B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VALOR DE NEGÓCIO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planilhas manuais a decisão em minutos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F7FA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68680" y="2194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HOJE, SEM O PIPELINE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4754879" cy="259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▪"/>
            </a:pPr>
            <a:r>
              <a:rPr lang="en-US" sz="13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Cruzar resultado com meta exige planilha por planilha, </a:t>
            </a:r>
            <a:r>
              <a:rPr lang="en-US" sz="1350" dirty="0" err="1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manualmente</a:t>
            </a:r>
            <a:endParaRPr lang="en-US" sz="1350" dirty="0">
              <a:solidFill>
                <a:srgbClr val="1A2B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50000"/>
              </a:lnSpc>
              <a:buSzPct val="100000"/>
              <a:buChar char="▪"/>
            </a:pPr>
            <a:endParaRPr lang="en-US" sz="1350" dirty="0"/>
          </a:p>
          <a:p>
            <a:pPr marL="342900" indent="-342900">
              <a:lnSpc>
                <a:spcPct val="150000"/>
              </a:lnSpc>
              <a:buSzPct val="100000"/>
              <a:buChar char="▪"/>
            </a:pPr>
            <a:r>
              <a:rPr lang="en-US" sz="13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depende de alguém lembrar de repetir o </a:t>
            </a:r>
            <a:r>
              <a:rPr lang="en-US" sz="1350" dirty="0" err="1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</a:t>
            </a:r>
            <a:endParaRPr lang="en-US" sz="1350" dirty="0">
              <a:solidFill>
                <a:srgbClr val="1A2B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50000"/>
              </a:lnSpc>
              <a:buSzPct val="100000"/>
              <a:buChar char="▪"/>
            </a:pPr>
            <a:endParaRPr lang="en-US" sz="1350" dirty="0"/>
          </a:p>
          <a:p>
            <a:pPr marL="342900" indent="-342900">
              <a:lnSpc>
                <a:spcPct val="150000"/>
              </a:lnSpc>
              <a:buSzPct val="100000"/>
              <a:buChar char="▪"/>
            </a:pPr>
            <a:r>
              <a:rPr lang="en-US" sz="13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comparar rapidamente entre municípios e estados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92024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028090"/>
          </a:solidFill>
          <a:ln/>
          <a:effectLst>
            <a:outerShdw blurRad="101600" dist="38100" dir="5400000" algn="bl" rotWithShape="0">
              <a:srgbClr val="0B2B2E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583680" y="2194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PIPELINE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2651760"/>
            <a:ext cx="4690872" cy="2713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base publicada → processo roda sozinho, sem </a:t>
            </a:r>
            <a:r>
              <a:rPr lang="en-US" sz="13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manual</a:t>
            </a:r>
          </a:p>
          <a:p>
            <a:pPr marL="342900" indent="-342900">
              <a:lnSpc>
                <a:spcPct val="150000"/>
              </a:lnSpc>
              <a:buSzPct val="100000"/>
              <a:buChar char="▪"/>
            </a:pPr>
            <a:endParaRPr lang="en-US" sz="1350" dirty="0"/>
          </a:p>
          <a:p>
            <a:pPr marL="342900" indent="-342900">
              <a:lnSpc>
                <a:spcPct val="150000"/>
              </a:lnSpc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que o gestor já usa é </a:t>
            </a:r>
            <a:r>
              <a:rPr lang="en-US" sz="13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atualizado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automaticamente</a:t>
            </a:r>
            <a:endParaRPr lang="en-US" sz="13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50000"/>
              </a:lnSpc>
              <a:buSzPct val="100000"/>
              <a:buChar char="▪"/>
            </a:pPr>
            <a:endParaRPr lang="en-US" sz="1350" dirty="0"/>
          </a:p>
          <a:p>
            <a:pPr marL="342900" indent="-342900">
              <a:lnSpc>
                <a:spcPct val="150000"/>
              </a:lnSpc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 mais distante da meta identificado em minutos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94  •  Alfabetização Brasil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GOVERNANÇA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Qualidade de dados, monitoramento e custo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DE DADOS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23134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Duplicidade de registros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8163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ausentes por coluna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4864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33192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Unicidade de chave primária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48640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38221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Consistência referencial entre tabelas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18745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CUSTOS (FINOPS)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233172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263640" y="2331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23134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particionado (menor storage e scan)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283464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26364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0" y="28163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do BigQuery (até 1 TB/mês)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333756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26364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66560" y="33192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serverless — paga só o consultado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63640" y="384048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6263640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66560" y="38221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lifecycle: bronze antigo → Glacier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470916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F7FA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868680" y="470916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Monitoramento: </a:t>
            </a: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estruturados nos scripts de ingestão (bronze e streaming) registram volume processado, falhas e timestamp de cada execução — base para alertas futuros.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94  •  Alfabetização Brasil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PRÓXIMO PASSO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Potencial de uso para Inteligência Artificial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camada Gold — já limpa e integrada — é a base pronta para os próximos passos: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7FAFA"/>
          </a:solidFill>
          <a:ln/>
          <a:effectLst>
            <a:outerShdw blurRad="101600" dist="38100" dir="5400000" algn="bl" rotWithShape="0">
              <a:srgbClr val="0B2B2E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868680" y="24688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918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preditivos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84048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não-alfabetização por município, usando indicadores socioeconômicos e de infraestrutura escolar como features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21488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7FAFA"/>
          </a:solidFill>
          <a:ln/>
          <a:effectLst>
            <a:outerShdw blurRad="101600" dist="38100" dir="5400000" algn="bl" rotWithShape="0">
              <a:srgbClr val="0B2B2E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709160" y="246888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70916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9160" y="32918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Clusterização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09160" y="384048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municípios por padrão de vulnerabilidade educacional, para priorizar políticas por perfil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0" y="21488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7FAFA"/>
          </a:solidFill>
          <a:ln/>
          <a:effectLst>
            <a:outerShdw blurRad="101600" dist="38100" dir="5400000" algn="bl" rotWithShape="0">
              <a:srgbClr val="0B2B2E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8549640" y="24688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54964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49640" y="32918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Análises causais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49640" y="384048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Correlacionar evolução do indicador com investimento (FUNDEB) e contexto socioeconômico (IBGE/PNAD)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94  •  Alfabetização Brasil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base única, confiável e pronta para crescer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resumo, o que este pipeline resolve — e para onde ele aponta: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F7FA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3042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 um problema real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08760" y="2724912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 o cruzamento manual de planilhas por uma base única, versionada por ano.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210312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F7FA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6537960" y="23774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53796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23760" y="23042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sob medida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223760" y="2724912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e streaming escolhidos pela frequência real de cada fonte — sem over-engineering.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F7FA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822960" y="42519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2296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1788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Já entrega valor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08760" y="4599432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mil+ linhas na camada Gold, dashboards atualizados automaticamente para o gestor.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397764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F7FA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6537960" y="42519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53796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23760" y="41788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Pronto para o próximo passo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223760" y="4599432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limpa e integrada, pronta para alimentar modelos preditivos de IA.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94  •  Alfabetização Brasil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280160"/>
            <a:ext cx="3840480" cy="38404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365760" y="-548640"/>
            <a:ext cx="2194560" cy="21945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Obrigado(a)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fonte única e confiável do Indicador Criança Alfabetizada — atualizada automaticamente, pronta para dashboards e para os próximos modelos de IA.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394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94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github.com/claryfsz/TechChallenge-AlfabetizacaoBrasil-Grupo94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1147</Words>
  <Application>Microsoft Office PowerPoint</Application>
  <PresentationFormat>Widescreen</PresentationFormat>
  <Paragraphs>235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Maria Clara Souza</cp:lastModifiedBy>
  <cp:revision>3</cp:revision>
  <dcterms:created xsi:type="dcterms:W3CDTF">2026-07-14T00:49:45Z</dcterms:created>
  <dcterms:modified xsi:type="dcterms:W3CDTF">2026-07-14T13:35:58Z</dcterms:modified>
</cp:coreProperties>
</file>